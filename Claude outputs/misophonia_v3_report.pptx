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_build/icon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046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713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· CAD LAB · v3 RESEARCH PLAN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vs. Appraisal of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Bodily Sensation in Misophonia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reviewed, three-layer research plan — status update and open decisions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Prof. Juyoen Hur (허주연 교수님)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Chaeha Dong (동채하 · Cai Dong)   ·   CAD Lab, Yonsei University   ·   2026-09-07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I want to walk 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_build/icon_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00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question, and why it's a real gap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476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known, and the one combination no study has tested yet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ppt_build/icon_wavefor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739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600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The three-layer design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19476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tested at each layer — questionnaire, trial-level, neural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ppt_build/icon_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19125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017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Rigor safeguards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36499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design defends against overclaiming causality and mechanism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0" y="3063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ppt_build/icon_boo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1912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86600" y="3017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Literature anchoring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086600" y="336499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checked against a primary source — including one correction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ppt_build/icon_calend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60857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4434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Feasibility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47823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ready to run now vs. what's pre-registered for later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0" y="44805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/home/claude/ppt_build/icon_sca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60857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86600" y="4434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Four decisions I need from you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086600" y="47823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answerable today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CF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misophonia severity depend more on how strongly bodily sensations are </a:t>
            </a:r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REGISTERED</a:t>
            </a:r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CF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or on how threateningly they are </a:t>
            </a:r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APPRAISED</a:t>
            </a:r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CF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does appraisal </a:t>
            </a:r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0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CF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conversion, rather than just adding to it independently?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(S)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MAIA-2 · BPQ-SF-A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828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 bodily sensation is noticed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397764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 (A)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ASI-3 Physical Concerns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828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threateningly that sensation is interpreted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397764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(M)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AMISOS-R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828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misophonia severity — the outcome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80 (50 clinical / 30 control) · entirely existing CAD Lab data · zero new collection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Real Gap, Not a Rediscovery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5B64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· N=628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12471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Bodily-sensitivity (ASI-3 Physical Concerns) is elevated in a misophonia-defined community profile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5B64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9019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sensitivity relates to misophonia and aggression; extended to youth samples in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4EF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PRECEDENT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552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Wang, Vitoratou et al. (2022) · N = 703 · Frontiers in Psychology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anxiety sensitivity, interoception, and appraisal-type variables together.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appraisal variables entered the model, anxiety sensitivity and interoception stopped being significant independent predictors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outbursts/impairment — suggestive of this project's core claim, but tested against different outcomes (impairment, not severity) with different instruments.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992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4865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entered registration and appraisal as one competing model against misophonia severity, confirmed they are empirically separable constructs, and tested whether appraisal gates (vs. merely adds to) the conversion.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Appraisal, Redefined — Anchored in 2026 Literature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 = “anxiety sensitivity”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frames misophonia as anxiety-pathology-adjacent — a construct ASI-3 was built to measure directly.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4EF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 = threat-related interpretation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bodily sensations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14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broader, transdiagnostic tendency. ASI-3 Physical Concerns is used as one operational index of it — not a claim that misophonia is anxiety pathology.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23560" y="2377440"/>
            <a:ext cx="502920" cy="365760"/>
          </a:xfrm>
          <a:prstGeom prst="rightArrow">
            <a:avLst/>
          </a:prstGeom>
          <a:solidFill>
            <a:srgbClr val="B853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20624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/home/claude/ppt_build/icon_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544568"/>
            <a:ext cx="283464" cy="2834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08760" y="441655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Rosenthal, Shan &amp; Hanna (2026) · Annual Review of Clinical Psychology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48280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BASIC framework, argues misophonia should NOT be classified as an anxiety disorder — anger and irritation are the dominant affect, more central than fear/anxiety.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54406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Hanna et al. (2025, PLoS One): a network model where emotion-regulation “nonacceptance” — not anxiety sensitivity alone — is the central node predicting severity.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Three-Layer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independently deliverable — no layer depends on another layer succeeding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26464"/>
          </a:xfrm>
          <a:prstGeom prst="roundRect">
            <a:avLst>
              <a:gd name="adj" fmla="val 512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_build/icon_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562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55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· Questionnaire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93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MAIA-2/BPQ (S) vs. ASI-3 (A) → AMISOS-R (M)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80, cross-sectional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875520" y="167335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75520" y="16733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09397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appraisal predict severity independent of registration?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36392"/>
            <a:ext cx="11064240" cy="1426464"/>
          </a:xfrm>
          <a:prstGeom prst="roundRect">
            <a:avLst>
              <a:gd name="adj" fmla="val 512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ppt_build/icon_wavefor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48386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282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· Bridge Layer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621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42-sound auditory task, trial-level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600200" y="3913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3,360 observations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875520" y="3300984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875520" y="3300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6720840" y="372160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appraisal specifically amplify aversion to trigger sounds — not any unpleasant sound? This is where “gating” is actually powered to be tested.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4764024"/>
            <a:ext cx="11064240" cy="1426464"/>
          </a:xfrm>
          <a:prstGeom prst="roundRect">
            <a:avLst>
              <a:gd name="adj" fmla="val 512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77240" y="496519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ppt_build/icon_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111496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00200" y="4910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· Convergent Neural Correlates</a:t>
            </a:r>
            <a:endParaRPr lang="en-US" sz="1550" dirty="0"/>
          </a:p>
        </p:txBody>
      </p:sp>
      <p:sp>
        <p:nvSpPr>
          <p:cNvPr id="26" name="Text 21"/>
          <p:cNvSpPr txBox="1"/>
          <p:nvPr/>
        </p:nvSpPr>
        <p:spPr>
          <a:xfrm>
            <a:off x="1600200" y="52486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Interoceptive attention task + resting-state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1600200" y="5541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fMRI, pre-registered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875520" y="4928616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B853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875520" y="49286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ONLY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6720840" y="5349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interoceptive processing and salience-network organization converge with the trait→trigger pathway found in Layers 1–2?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_build/icon_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Questionnaire (Trait Level)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E7E0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B8532E"/>
          </a:solidFill>
          <a:ln/>
        </p:spPr>
      </p:sp>
      <p:pic>
        <p:nvPicPr>
          <p:cNvPr id="7" name="Image 1" descr="/home/claude/ppt_build/icon_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270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ZERO — before H1 runs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6276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Disattenuated correlation + 2-factor vs. 1-factor CFA — confirms S and A are actually separable constructs, not the same trait measured twice.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23591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359152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ASI-3 predicts AMISOS-R, controlling for MAIA-2/BPQ-SF-A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195560" y="23591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H1b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importance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566160" y="2999232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from S vs. A via dominance/Shapley decomposition — not order-dependent ΔR²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0195560" y="2999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36576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4864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143000" y="36393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validity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3566160" y="3639312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survives controlling for SPSQ (sensory sensitivity) and OCI-R (OCD-spectrum)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195560" y="3639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48640" y="4297680"/>
            <a:ext cx="420624" cy="420624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54864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427939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interaction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3566160" y="4279392"/>
            <a:ext cx="6537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× ASI-3 → AMISOS-R — reported as estimate + CI only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10195560" y="42793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Exploratory, underpowered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48640" y="50109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486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" y="49926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specificity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3566160" y="4992624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S/A structure predicts AMISOS-R better than IDAS-II total distress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10195560" y="49926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_build/icon_wavefor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Bridge Layer (Trial Level)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sounds × 80 participants ≈ 3,360 trial-level observations — this is where “gating” is actually powered to be tested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4EF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· Main, confirmatory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P(rated “unpleasant”) ~ SoundType × ASI-3 + (1 + SoundType | Participant)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mixed model. Core test: does ASI-3 specifically amplify aversion to trigger sounds, without amplifying aversion to the built-in unpleasant-sound control?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with MAIA × SoundType added — predicts ASI-3's moderation exceeds MAIA's.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2519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4622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ppt_build/icon_lin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572000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0876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Cross-level convergence test (new, §4.4)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1508760" y="48006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asserted H6 would “converge” with H1's trait-level effect but never tested that formally. Fix: decompose ASI-3 into within-person-centered vs. between-person components, so “convergence” is a stated, testable comparison of coefficients — not an assumption.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_build/icon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Convergent Neural Correlates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Interoceptive attention task (heart / gut / visual) + resting-state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H7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325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↔ anterior insula; ASI-3 ↔ anterior insula; MAIA ↔ posterior/mid insula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H7b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965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Heart/gut contrast carries independent information beyond the anterior/posterior gradient. NOT a disgust-specific replication — outcome substituted (AMISOS-R + IDAS-II composite) since no disgust measure exists in this dataset.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4EF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3218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PRE-SPECIFICATION — locked before any imaging data is inspected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520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Posterior/mid insula: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Nord, Lawson &amp; Dalgleish (2021, AJP) meta-analysis coordinates. 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insula: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Neurosynth/NeuroQuery term-based map.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Brainnetome/Deen (2011) atlas boundaries for anatomical distinctness. Peaks from the study's own contrast are explicitly excluded — that would be circular.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6E7E0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4965192"/>
            <a:ext cx="457200" cy="457200"/>
          </a:xfrm>
          <a:prstGeom prst="ellipse">
            <a:avLst/>
          </a:prstGeom>
          <a:solidFill>
            <a:srgbClr val="B8532E"/>
          </a:solidFill>
          <a:ln/>
        </p:spPr>
      </p:sp>
      <p:pic>
        <p:nvPicPr>
          <p:cNvPr id="17" name="Image 1" descr="/home/claude/ppt_build/icon_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506577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only — NOT part of the one-year deliverable unless PI coordination resolves. fMRI/SPM pipeline is a new skill I'm learning in parallel.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B85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SAFEGUARD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Model ≠ a Causal Test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draft's diagram (“sensation → registered → appraised → severity”) read as a temporal cascade a cross-sectional design cannot support.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(relationships only — not a temporal or causal claim)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74320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7432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Bodily Sensation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99816" y="3163824"/>
            <a:ext cx="292608" cy="25603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456432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4564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(S)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3456432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0B2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37560" y="34564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(A)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99816" y="3877056"/>
            <a:ext cx="292608" cy="25603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or amplify?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99816" y="4389120"/>
            <a:ext cx="292608" cy="256032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66344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663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(M)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257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hypothesized relationships between constructs — the figure makes no claim about which happens first in time.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96596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4652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TEST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359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test below is correlational or cross-level — none is a sequence test)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74320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743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MAIA/BPQ &amp; ASI-3 measured in the same session → regression on AMISOS-R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446520" y="352044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6520" y="3520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same ~15s trial window: ASI-3 × sound-type → aversion rating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46520" y="429768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46520" y="4297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4251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Same-session interoceptive-attention fMRI ~ trait S, A (individual differences)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46520" y="5120640"/>
            <a:ext cx="48920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ordering is ever claimed, it must be justified by what the trial structure actually records — not assumed from the diagram.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B85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SAFEGUARD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“Gating” Is a Pre-Registered Form,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Name for an Interaction Term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E7E0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3113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interaction term is equally consistent with gating, simple additive amplification, or a threshold effect at one tail of the ASI-3 distribution. These are not the same claim.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pre-registered simple-slope analysis at high vs. low ASI-3 (±1 SD)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registration→severity slope significant only at high ASI-3; ~0 at low ASI-3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4480560"/>
            <a:ext cx="0" cy="13716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852160"/>
            <a:ext cx="44348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5852160"/>
            <a:ext cx="4434840" cy="-1371600"/>
          </a:xfrm>
          <a:prstGeom prst="line">
            <a:avLst/>
          </a:prstGeom>
          <a:noFill/>
          <a:ln w="38100">
            <a:solidFill>
              <a:srgbClr val="F0B2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797296"/>
            <a:ext cx="4434840" cy="1828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ASI-3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5559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ASI-3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33832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652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AMPLIFICATION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886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registration→severity slope significant at BOTH high and low ASI-3, just steeper at high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4480560"/>
            <a:ext cx="0" cy="13716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5852160"/>
            <a:ext cx="44348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5852160"/>
            <a:ext cx="4434840" cy="-1371600"/>
          </a:xfrm>
          <a:prstGeom prst="line">
            <a:avLst/>
          </a:prstGeom>
          <a:noFill/>
          <a:ln w="38100">
            <a:solidFill>
              <a:srgbClr val="F0B2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5852160"/>
            <a:ext cx="4434840" cy="-61722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84080" y="4498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ASI-3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0977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ASI-3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B85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SAFEGUARD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Competing Models This Design Must Beat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alternatives — compared via AIC/BIC or non-nested tests, not just covariate control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84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65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Appraisal-specific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659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ASI-3 Physical Concerns independently predicts severity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/ H5 main effects + interaction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535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negative affectivity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9535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higher-order trait (not S/A specifically) absorbs the effect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9535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AIC/BIC vs. a common-factor model — not sequential covariate entry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593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94106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Interoceptive pathway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9410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MAIA/BPQ mediates the appraisal → severity path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9410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model + Layer 3 convergence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9469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946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92861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subtypes (exploratory)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92861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 × A combinations define distinct neurobehavioral profiles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92861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Profile Analysis (2–3 profiles) — data-driven, not presupposed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161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doesn't just control for alternatives — it formally compares non-nested models, so “appraisal matters” has to win a competition, not survive a checklist.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B85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SAFEGUARD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Safeguards &amp; Power Honesty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_build/icon_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270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89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comparisons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38988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 across the primary family (H1, H1b, H2, H4); FDR/q-values for exploratory tests (H3)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1305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_build/icon_sca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4028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Random-effects structure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21031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per Barr et al. recommendation — pre-registered, not chosen post hoc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843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_build/icon_lin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Within/between decomposition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281635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Trait-level (H1) and trial-level (H6) “convergence” tested as within- vs. between-person coefficients — not assumed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648456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6E7E0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3831336"/>
            <a:ext cx="502920" cy="502920"/>
          </a:xfrm>
          <a:prstGeom prst="ellipse">
            <a:avLst/>
          </a:prstGeom>
          <a:solidFill>
            <a:srgbClr val="B8532E"/>
          </a:solidFill>
          <a:ln/>
        </p:spPr>
      </p:sp>
      <p:pic>
        <p:nvPicPr>
          <p:cNvPr id="19" name="Image 3" descr="/home/claude/ppt_build/icon_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4106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3813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CAVEAT — stated as an upper bound, not a guarantee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1463040" y="41605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Psychiatric exclusion criteria create a “supernormal” control group, truncating the distress distribution. Reported power figures (74–80%) assume population effect sizes the truncation itself would attenuate.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463040" y="485546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report power as an explicit upper bound, and run a sensitivity analysis across a range of plausible attenuated effect sizes.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Anchoring — What's Verified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checked against a primary source before use — including one correction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12264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Vitoratou et al. 2022 · N=703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08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precedent for the S/A competition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9372600" y="1645920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72600" y="16459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1226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Rosenthal, Shan &amp; Hanna 2026 · ARCP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122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appraisal as anger-centered, not anxiety-centered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372600" y="224942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72600" y="22494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157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 et al. 2025 · PLoS One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71576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 — emotion-regulation “nonacceptance” is central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372600" y="2852928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72600" y="28529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192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Nord, Lawson &amp; Dalgleish 2021 · AJP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31927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Posterior/mid-insula meta-analysis coordinates for Layer 3 ROI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372600" y="3456432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2600" y="34564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92277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Neacsiu et al. 2026 · BMC Psychiatry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92277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insula–dmPFC connectivity specific to misophonia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372600" y="4059936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B853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72600" y="40599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09-07 (corrected)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548640" y="5129784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5262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Ajmera/Khan &amp; Jain/Ajmera 2026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52628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support for a distinguishable neural signature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9372600" y="4663440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5B647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72600" y="46634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· exact findings unconfirmed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48640" y="5733288"/>
            <a:ext cx="110642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12978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(Oh et al.) · bioRxiv preprint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512978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construct-validity only — not a new data source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372600" y="526694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2F8F5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72600" y="52669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as preprint</a:t>
            </a:r>
            <a:endParaRPr lang="en-US" sz="87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87044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citation (Neacsiu 2026) was initially misjudged as unconfirmable after an early search and had to be corrected on 09-07 using a structured metadata lookup (OpenAlex) — the exact discipline this project applies to outside claims, applied to its own bibliography.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12 Months, Zero New Data Collection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1064240" cy="0"/>
          </a:xfrm>
          <a:prstGeom prst="line">
            <a:avLst/>
          </a:prstGeom>
          <a:noFill/>
          <a:ln w="50800">
            <a:solidFill>
              <a:srgbClr val="CF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7048" y="2249424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M1–M2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access / IRB path; lock pre-registration (4 self-identified fixes reflected)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39896" y="2249424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07208" y="16916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M2–M4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07208" y="26060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validation on simulated data; literature review finalized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52744" y="2249424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16916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M4–M7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0056" y="26060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analysis (n≈40) — estimates only, no inferential claims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65592" y="2249424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2904" y="16916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M7–M11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32904" y="26060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Full-sample primary analysis; Study 2 conditional start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78440" y="2249424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45752" y="16916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M10–M12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45752" y="26060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Write-up; submission / conference abstract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4F2E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now, inside the original constraints — no new data, no fMRI-preprocessing dependency for the primary deliverable.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4805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6E7E0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4652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9377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designed and pre-registered; scheduled contingent on PI coordination with the lab's own interoceptive-imaging work.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I Need From You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before lab meeting should be enough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0B2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log access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&amp; format for the trial-level auditory-task log — can I get a sample this week to test the pipeline?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20240"/>
            <a:ext cx="502920" cy="502920"/>
          </a:xfrm>
          <a:prstGeom prst="ellipse">
            <a:avLst/>
          </a:prstGeom>
          <a:solidFill>
            <a:srgbClr val="F0B2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20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division of labor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H7/H7b would be pre-registered only (no delivery this year) — does that conflict with the lab's own interoceptive-imaging work?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0B2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Interoceptive-task interpretation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Heart/Gut/Visual attention task, what neural interpretation do you think it best supports? I'm deliberately not pre-assigning anterior = appraisal.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41F38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114800"/>
            <a:ext cx="502920" cy="502920"/>
          </a:xfrm>
          <a:prstGeom prst="ellipse">
            <a:avLst/>
          </a:prstGeom>
          <a:solidFill>
            <a:srgbClr val="F0B2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IRB path for secondary analysis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go through 연구자 추가 or 변경 보고 — and what materials do I need to prepare?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Misophonia v3 — Status Update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pt_build/icon_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69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1–2 are ready to run now, inside the original constraints.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0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is fully designed and pre-registered — coordination with the lab's own interoceptive-imaging work is the one open question.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· Thank you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Chaeha Dong (동채하)  ·  CAD Lab, Yonsei University  ·  2026-09-07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2026-09-07T09:21:38Z</dcterms:created>
  <dcterms:modified xsi:type="dcterms:W3CDTF">2026-09-07T09:21:38Z</dcterms:modified>
</cp:coreProperties>
</file>